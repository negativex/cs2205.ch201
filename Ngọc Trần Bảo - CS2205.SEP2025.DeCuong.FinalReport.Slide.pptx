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df3727b3_0_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df3727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df3727b3_0_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adf3727b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df3727b3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adf3727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negativex/CS2205.CH201" TargetMode="External"/><Relationship Id="rId4" Type="http://schemas.openxmlformats.org/officeDocument/2006/relationships/hyperlink" Target="https://youtu.be/LNSOXKsKS84" TargetMode="External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383850"/>
            <a:ext cx="8222100" cy="24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TỐI ƯU HÓA TỰ ĐỘNG MỞ RỘNG ĐA CHIỀU CHO MICROSERVICES TRÊN KUBERNETES SỬ DỤNG HỌC TĂNG CƯỜNG DỰA TRÊN MÔ HÌNH</a:t>
            </a:r>
            <a:endParaRPr b="1" sz="2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675050" y="2262538"/>
            <a:ext cx="39318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Lớp: CS2205.CH201</a:t>
            </a:r>
            <a:endParaRPr b="1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GVHD: PGS. TS. Lê Đình Duy</a:t>
            </a:r>
            <a:endParaRPr b="1" sz="2300"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2675050" y="3136588"/>
            <a:ext cx="39318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Trần Bảo Ngọc - 250201019</a:t>
            </a:r>
            <a:endParaRPr b="1" sz="4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</a:t>
            </a:r>
            <a:r>
              <a:rPr lang="en"/>
              <a:t>CS2205.CH201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 YouTube video: </a:t>
            </a:r>
            <a:r>
              <a:rPr lang="en" u="sng">
                <a:solidFill>
                  <a:schemeClr val="hlink"/>
                </a:solidFill>
                <a:hlinkClick r:id="rId4"/>
              </a:rPr>
              <a:t>YouTube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5" name="Google Shape;75;p14" title="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873" y="2120849"/>
            <a:ext cx="2056850" cy="242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Bối cảnh &amp; Đặt vấn đề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820500"/>
            <a:ext cx="40575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Bối cảnh: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Kiến trúc Microservices và Kubernetes là tiêu chuẩn hiện nay.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Thách thức: Cân bằng giữa Hiệu năng (SLA) và Chi phí (Cost).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Vấn đề thực tại: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Kubernetes HPA/VPA: Phản ứng chậm (Reactive), dựa trên ngưỡng cố định -&gt; "Lag" khi tải tăng đột ngột.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CoScal: Dùng RL đa chiều rất tốt, NHƯNG là Model-free -&gt; Tốn thời gian training, rủi ro cao khi triển khai thực tế (Cold-start).</a:t>
            </a:r>
            <a:endParaRPr sz="2300"/>
          </a:p>
        </p:txBody>
      </p:sp>
      <p:pic>
        <p:nvPicPr>
          <p:cNvPr id="82" name="Google Shape;82;p15" title="1_0wJBUCAWTLAe62PHmhoLOQ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750" y="1395425"/>
            <a:ext cx="4182490" cy="23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Giải pháp &amp; Mục tiêu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820500"/>
            <a:ext cx="38886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Ý tưởng cốt lõi: Kết hợp sự linh hoạt của CoScal + Tốc độ hội tụ của Model-based RL.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Tích hợp pha Planning (Quy hoạch): Học trên mô hình giả lập trước khi tác động vào Cluster thật.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Chuyển từ bị động sang chủ động (Proactive) nhờ dự đoán tải.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Mục tiêu 1: Thiết kế kiến trúc Autoscaler đa chiều trên Kubernetes (Ngang + Dọc + Brownout).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Mục tiêu 2: Xây dựng thuật toán Model-based RL để giảm thời gian hội tụ và giảm rủi ro thử-sai.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Mục tiêu 3: Đánh giá hiệu năng so với HPA mặc định và CoScal gốc.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125" y="1602400"/>
            <a:ext cx="4048800" cy="20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Kiến trúc hệ thống tổng quan</a:t>
            </a:r>
            <a:endParaRPr b="1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820500"/>
            <a:ext cx="8222100" cy="17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Nội dung: Giới thiệu mô hình Custom Controller.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Các thành phần chính: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Monitor: Thu thập Metrics (Prometheus).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Predictor: Dự báo tải (GRU).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Agent: Ra quyết định (Model-based RL).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Actuator: Thực thi lệnh scale qua K8s API.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861" y="2762774"/>
            <a:ext cx="5686175" cy="19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Module Dự đoán tải</a:t>
            </a:r>
            <a:endParaRPr b="1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820500"/>
            <a:ext cx="55419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Công nghệ: Gated Recurrent Unit (GRU).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Tại sao dùng GRU?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Xử lý tốt dữ liệu chuỗi thời gian (Time-series metrics).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Nhẹ hơn LSTM nhưng hiệu quả tương đương.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Vai trò: Giúp hệ thống chuẩn bị tài nguyên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trước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khi traffic ập đến.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Thuật toán: Model-based Reinforcement Learning.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Quy trình: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Model Learning: Học động lực học của hệ thống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Planning: Chạy mô phỏng trên Model ảo để tối ưu chính sách (Policy).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Execution: Áp dụng hành động tối ưu vào Kubernetes Cluster.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8" title="equ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918" y="3032753"/>
            <a:ext cx="686250" cy="1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13a8HnDUlzhhKcSpQzOyiCQ.png"/>
          <p:cNvPicPr preferRelativeResize="0"/>
          <p:nvPr/>
        </p:nvPicPr>
        <p:blipFill rotWithShape="1">
          <a:blip r:embed="rId4">
            <a:alphaModFix/>
          </a:blip>
          <a:srcRect b="40387" l="0" r="0" t="0"/>
          <a:stretch/>
        </p:blipFill>
        <p:spPr>
          <a:xfrm>
            <a:off x="5755575" y="820500"/>
            <a:ext cx="2825400" cy="193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5564" y="2939775"/>
            <a:ext cx="2817474" cy="14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Chiến lược mở rộng đa chiều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23475" y="836650"/>
            <a:ext cx="7011000" cy="16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Các loại hành động (Action Space):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Horizontal Scaling: Tăng/giảm số lượng Pod (Bền vững, chậm).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Vertical Scaling: Tăng/giảm CPU/RAM Limit (Tức thời, giới hạn bởi Node).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Brownout: Tắt tính năng phụ (Khi quá tải).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Logic: Phối hợp 3 hành động này để đạt hiệu quả cao nhất thay vì chỉ dùng 1 loại như HPA</a:t>
            </a:r>
            <a:endParaRPr sz="1800"/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21909" l="44843" r="7562" t="24523"/>
          <a:stretch/>
        </p:blipFill>
        <p:spPr>
          <a:xfrm>
            <a:off x="2568338" y="2422275"/>
            <a:ext cx="4007326" cy="22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mong đợi 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23475" y="83665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Tốc độ hội tụ: Nhanh hơn 30-40% so với Model-free (CoScal).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SLA: Giảm thiểu vi phạm độ trễ (Response Time) trong các đợt Bursty Traffic.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Tài nguyên: Sử dụng tài nguyên hiệu quả hơn, tránh lãng phí (Over-provisioning).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luận &amp; Tài liệu tham khảo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Kết luận: Đề tài giải quyết bài toán khó về "Cold-start" trong ứng dụng AI vào DevOps.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Hướng phát triển: Mở rộng ra môi trường Multi-cloud hoặc Serverless.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Tài liệu tham khảo: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[1] F. Rossi, M. Nardelli and V. Cardellini, "Horizontal and Vertical Scaling of Container-Based Applications Using Reinforcement Learning," 2019 IEEE 12th International Conference on Cloud Computing (CLOUD), Milan, Italy, 2019, pp. 329-338, doi: 10.1109/CLOUD.2019.00061.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[2] M. Xu et al., "CoScal: Multifaceted Scaling of Microservices With Reinforcement Learning," in IEEE Transactions on Network and Service Management, vol. 19, no. 4, pp. 3995-4009, Dec. 2022, doi: 10.1109/TNSM.2022.3210211.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[3] The Kubernetes Authors. 2024. "Kubernetes Documentation: Horizontal Pod Autoscaling". Available online: https://kubernetes.io/docs/tasks/run-application/horizontal-pod-autoscale/. Last modified: 2026-01-05, accessed: 2026-01-19.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